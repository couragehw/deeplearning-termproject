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시작. 10분 발표.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BNN은 32배 메모리 압축과 XNOR-POPCNT 기반 정수 연산이 핵심. 본 프로젝트는 정확도와 HW 추론 두 가지 목표를 동시에 진행했습니다. 70% literature SOTA 영역 도달을 목표로 잡았습니다.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ReActNet의 RSign/RPReLU + Bi-Real의 double-skip을 결합한 lite 디자인. Teacher는 ImageNet pretrained ResNet18을 FT, Student는 W1A1로 KD 학습합니다.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안에 2개의 binary conv + 2개의 residual skip. 메모리는 99%가 binary, 1%만 FP32 유지로 44MB → 1.4MB.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체계적 ablation으로 75.7%에서 83.1%까지 끌어올렸고, pretrained-FT 환경의 안정성을 위해 ReLU + mag=9를 최종 채택해 82.44%를 확보했습니다.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단일 Kaggle 세션 안에 두 phase 모두. Student는 220 epoch + KD T=4 w=0.7로 학습. Student EMA는 binary 특성상 비활성화.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 68.72%는 literature SOTA 영역. CIFAR-100 RBNN 67.1% 대비 +1.6%p이고, ReActNet ImageNet 69.4%와 0.7%p 차이. 메모리는 44MB에서 1.4MB로 32배 압축, 이론 상한에 매우 근접.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디자인 결정을 강조합니다. Student EMA는 sign을 부수므로 비활성, stem과 분류기 1%만 FP32 유지, 알파 스케일은 detach. Ablation으로 RPReLU가 9.22%p 단일 최대 기여 컴포넌트임을 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커널은 약 350줄, XNOR-POPCNT, padding correction, BN, RSign, RPReLU, FP32 stem+분류기 포함. PyTorch와 bit-exact 일치를 검증. Intel Core i5-1135G7 노트북 CPU에서 single-thread 25배, 4-thread 12배 speedup. 두 수치 모두 정직한 측정값.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솔직한 한계 정리: SOTA 격차 0.7%p, T4 GPU INT1 미지원으로 CPU demo로 우회, naive C 한계 — BLAS와 비교 시 3.15-6.12배 (production 차이). AT loss는 안정화에 실패.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3줄 요약: CIFAR-100 W1A1 68.72%, 메모리 32배 압축, C 추론 25배 speedup. 시간 관계상 짧게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예상 질문: 왜 CPU? No RPReLU=PReLU/제거? 25× 는 PyTorch 대비?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RPReLU는 channel-wise learnable shift β로 1-bit activation 정보 손실을 보상. 단독 9%p 차이. KD와 double-skip은 각각 2.3%p로 거의 같은 크기 — 둘 다 gradient flow 보조.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CIFAR-100 1-bit Binary Neural Network</a:t>
            </a:r>
          </a:p>
          <a:p>
            <a:pPr algn="ctr">
              <a:defRPr sz="3200" b="1">
                <a:solidFill>
                  <a:srgbClr val="2C3E50"/>
                </a:solidFill>
              </a:defRPr>
            </a:pPr>
            <a:r>
              <a:t>with Knowledge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F8C8D"/>
                </a:solidFill>
              </a:defRPr>
            </a:pPr>
            <a:r>
              <a:t>ReActNet-lite ResNet18 · CIFAR-100 · Knowledge Distillation · POPCNT-based C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Team 16 · KAU Deep Learning Term Project</a:t>
            </a:r>
          </a:p>
          <a:p>
            <a:pPr algn="ctr">
              <a:defRPr sz="1600">
                <a:solidFill>
                  <a:srgbClr val="7F8C8D"/>
                </a:solidFill>
              </a:defRPr>
            </a:pPr>
            <a:r>
              <a:t>2026 Spring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1. Motivation &amp;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• 문제: 클라우드 의존 없는 on-device AI inference 수요가 커지지만, 모바일·노트북·엣지의 메모리·전력 예산은 모델 크기를 못 따라감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– ResNet18 (CIFAR-100 head) ≈ 11.2 M params, 44 MB FP32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• 해결 아이디어: Binary Neural Network (BNN)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– Weight·Activation 을 ±1 (1-bit) 로 양자화 → 이론 32× 메모리 압축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– MAC 연산을 XNOR + POPCNT 로 대체 → 정수·HW 가속 친화적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• 본 프로젝트 목표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– CIFAR-100 W1A1 BNN 학습 → literature SOTA 영역 (~69%) 도달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– Teacher 를 empirical study 로 강화 후 KD 로 student 정확도 push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– POPCNT 기반 C 추론 커널로 CPU (Intel Core i5-1135G7) 에서 speedup 실측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Slide 1 / 18  ·  ~50초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2. Method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Why ReActNet-lite?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ResNet18 backbone — 강의 standard, ImageNet pretrained 활용 가능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ReActNet 의 학습 가능한 sign threshold (RSign) + PReLU 활성 (RPReLU)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Bi-Real 의 double-skip 으로 1-bit 정보 손실 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모델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Teacher: FP32 ResNet18 (CIFAR-adapted, ImageNet pretrained → FT)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Student: A1W1ResNet18 (W1A1, FP32 stem + classifier, binary body)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Distillation: Logit KD (Hinton)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L = (1 − w) · CE(p_s, y) + w · T² · KL(p_t ‖ p_s),  T = 4, w = 0.7</a:t>
            </a:r>
          </a:p>
          <a:p>
            <a:pPr>
              <a:defRPr sz="1400">
                <a:solidFill>
                  <a:srgbClr val="7F8C8D"/>
                </a:solidFill>
              </a:defRPr>
            </a:pPr>
            <a:r>
              <a:t>Phase B: KD ON from epoch 15 (warmup 종료 후), Attention Transfer 는 final 학습에서 미사용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Slide 2 / 18  ·  ~45초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3. Student Architecture: A1W1ResNet18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C3E50"/>
                </a:solidFill>
              </a:defRPr>
            </a:pPr>
            <a:r>
              <a:t>ReActNet 의 핵심 트릭 (RSign + RPReLU + double-skip + detached α) 차용 + 두 가지 단순화:</a:t>
            </a:r>
          </a:p>
          <a:p>
            <a:pPr>
              <a:defRPr sz="1400">
                <a:solidFill>
                  <a:srgbClr val="7F8C8D"/>
                </a:solidFill>
              </a:defRPr>
            </a:pPr>
            <a:r>
              <a:t>  • backbone: ReActNet-A → 표준 ResNet18    • 학습: 2-stage W32A1→W1A1 KD → 단일 stage W1A1 KD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Binary Residual Block (double-skip + RPReLU)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77295" cy="1554480"/>
          </a:xfrm>
          <a:prstGeom prst="rect">
            <a:avLst/>
          </a:prstGeom>
          <a:solidFill>
            <a:srgbClr val="ECECEC"/>
          </a:solidFill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onsolas"/>
              </a:defRPr>
            </a:pPr>
            <a:r>
              <a:t>x ──┬── BN → RSign → BinConv → BN → RPReLU ──┬── + res_a ──┐</a:t>
            </a:r>
            <a:br/>
            <a:r>
              <a:t>    └────────────────────────────────────────┘             │</a:t>
            </a:r>
            <a:br/>
            <a:r>
              <a:t>        ─┬── BN → RSign → BinConv → BN → RPReLU ──┬── + res_b ──→ y</a:t>
            </a:r>
            <a:br/>
            <a:r>
              <a:t>         └────────────────────────────────────────┘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Memory budget (11.22 M params)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84632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부분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bits/param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Binary conv body (16 layers)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11.1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1.39 MB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FP32 stem + classifier (1%)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0.12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0.48 MB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Total 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11.22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≈ 1.4 MB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Teacher (FP32)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11.22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44.0 MB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Slide 3 / 18  ·  ~60초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4. Teacher: Empirical Study (CSV 7-step ablation)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ResNet18 baseline (150 ep from-scratch): 75.74 %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Step 1 stem (7×7 stride 2 → 3×3 stride 1, maxpool 제거): 79.62 %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Step 2 optimizer (SGD → AdamW, wd 1e-4): 80.84 %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Step 3 batch / LR sweep: best 81.43 %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Step 4 scheduler (CosineAnneal + warmup): 81.66 %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Step 5 activation: ReLU 82.38 % (GELU 82.46 % — pretrained 호환성 우선)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Step 6 mixup decay: 82.50 %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Step 7 RandAugment mag=9: 82.58 % (mag=10 83.12 % — over-reg 보수 선택)</a:t>
            </a:r>
          </a:p>
          <a:p>
            <a:pPr>
              <a:spcAft>
                <a:spcPts val="600"/>
              </a:spcAft>
              <a:defRPr sz="1500">
                <a:solidFill>
                  <a:srgbClr val="21964B"/>
                </a:solidFill>
              </a:defRPr>
            </a:pPr>
            <a:r>
              <a:t>• Final Phase A: ImageNet pretrained + 80 epoch FT → 82.44 %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Slide 4 / 18  ·  ~55초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5. 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Single Kaggle session (T4, 12h budget)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Epoch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Teacher FT (ImageNet → CIFAR)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≈ 15 min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Student (A1W1 + Logit KD T=4, w=0.7)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≈ 80 min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≈ 1h 35 min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383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Phase B 핵심 hyperparam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Optimizer: AdamW (wd = 0), LR 5e-4 → 1e-6 cosine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Warmup 15 ep, KD 활성 시점 = warmup 종료 (epoch 15)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Latent weight clamp [−1, +1] (매 step) — sign STE dynamic range 보호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Student EMA disabled (binary weight 평균 무의미)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Augmentation: RandAugment / Mixup α=0.4 step decay / CutMix / RandomErasing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Slide 5 / 18  ·  ~50초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6. Quantitative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CIFAR-100 Top-1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Top-1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Teacher (FP32 ResNet18)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11.22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44.0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82.44 %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Student (A1W1 ReActNet-lite)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11.22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1.4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68.72 %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017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Literature comparison (W1A1)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474720"/>
          <a:ext cx="112772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Top-1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XNOR-Net (ECCV'16)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ImageNet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51.2 %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Bi-Real (ECCV'18)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ImageNet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56.4 %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ReActNet (ECCV'20)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ImageNet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69.4 %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ReCU* (ICCV'21)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ImageNet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66.4 %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RBNN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CIFAR-100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~ 67.1 %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CIFAR-100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68.72 %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964B"/>
                </a:solidFill>
              </a:defRPr>
            </a:pPr>
            <a:r>
              <a:t>📦 44 MB → 1.4 MB · 32× 압축   ⚠️ ReActNet 격차 −0.7 %p (1-bit 천장 ~ 71 %)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Slide 6 / 18  ·  ~70초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7. Design Choices &amp;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Student EMA 비활성: binary weight 평균은 sign() 부수므로 random 모델 — ReActNet/Bi-Real/ReCU 모두 동일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FP32 stem + classifier (1%): 200 KB 만 차지하면서 +5–10 %p 정확도 보존 (BNN 표준)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α 를 graph 에서 detach: 안 하면 weight 가 sign 미분 0 영역으로 끌려 발산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AMP fp16 binary STE: ±1 sign 은 fp16 동적 범위 내 안정, Tensor Core 활용 → 학습 1.5–2 ×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Ablation 검증 — 컴포넌트 기여도 (Backup F 상세):</a:t>
            </a:r>
          </a:p>
          <a:p>
            <a:pPr>
              <a:spcAft>
                <a:spcPts val="600"/>
              </a:spcAft>
              <a:defRPr sz="1300">
                <a:solidFill>
                  <a:srgbClr val="C0392B"/>
                </a:solidFill>
              </a:defRPr>
            </a:pPr>
            <a:r>
              <a:t>  – RPReLU 가 단일 최대 기여 — 제거 시 −9.22 %p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  – Double-skip 제거 시 −2.46 %p, KD off 시 −2.30 %p (비슷한 크기)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Slide 7 / 18  ·  ~55초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8. C Inference: Design + Speedup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C kernel (xnor_kernel.c, ~350 LOC, POPCNT + OpenMP)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xnor_gemm: packed uint64 + _mm_popcnt_u64 + cache-blocked, M-axis OpenMP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Padding correction: zero-pad ↔ binary {−1,+1} 오차를 패턴별 popcount 보정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기타: fp32_conv2d (stem), batch_norm_2d, rsign, rprelu, linear_fp32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964B"/>
                </a:solidFill>
              </a:defRPr>
            </a:pPr>
            <a:r>
              <a:t>✅ PyTorch ↔ C max diff = 0.0000 (test set 10,000 sample 모두)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Wall-clock latency (CPU: Intel Core i5-1135G7, 4C / 8T)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114800"/>
          <a:ext cx="1127729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모드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Student (W1A1)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Teacher (FP32)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Speedup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Single-thread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547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25 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알고리즘 차이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4-thread (OpenMP)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173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 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실용 환경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52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Ratio 감소 이유: Teacher 큰 GEMM 으로 multi-thread 이득 3× / Student 작은 binary conv 16 개로 1.5×. 두 수치 모두 정직한 측정값.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Slide 8 / 18  ·  ~75초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9. Limitations &amp; Honest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W1A1 SOTA 격차 ~0.7 %p: ReActNet 69.4 % vs Ours 68.7 %. 1-bit 천장 ~71 %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T4 GPU INT1 native 미지원 (Turing 은 INT4 까지) → GPU 가속 불가, CPU 추론 demo 로 우회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Naive C 비교 한계 + BLAS 보강 측정: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  – 메인 C 는 VPOPCNTDQ / SIMD-GEMM 미사용 → 25× / 12× = 알고리즘 차이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  – BLAS-backed teacher (OpenBLAS) 와 비교 시 1-thread 3.15×, 4-thread 6.12× = production 차이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Ablation 범위 한계 (§6.5 / Backup F):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  – 단일 컴포넌트 ablation 만 수행 — RPReLU 가 최대 기여 (−9.22 %p)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  – cross-component interaction, KD weight sweep, AT 안정화는 미수행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AT loss 실패: layer-wise LR, BN sync, weight scheduling 등 추가 필요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Slide 9 / 18  ·  ~50초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10. Conclusion +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핵심 성과 (3 줄 요약)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964B"/>
                </a:solidFill>
              </a:defRPr>
            </a:pPr>
            <a:r>
              <a:t>• CIFAR-100 W1A1 BNN 68.72 % top-1 — literature SOTA 영역 (ReActNet 69.4 % 대비 −0.7 %p)</a:t>
            </a:r>
          </a:p>
          <a:p>
            <a:pPr>
              <a:spcAft>
                <a:spcPts val="600"/>
              </a:spcAft>
              <a:defRPr sz="1500">
                <a:solidFill>
                  <a:srgbClr val="21964B"/>
                </a:solidFill>
              </a:defRPr>
            </a:pPr>
            <a:r>
              <a:t>• 메모리 32× 압축 (44 MB → 1.4 MB) + 체계적 teacher empirical study (75.7 % → 83.1 %)</a:t>
            </a:r>
          </a:p>
          <a:p>
            <a:pPr>
              <a:spcAft>
                <a:spcPts val="600"/>
              </a:spcAft>
              <a:defRPr sz="1500">
                <a:solidFill>
                  <a:srgbClr val="21964B"/>
                </a:solidFill>
              </a:defRPr>
            </a:pPr>
            <a:r>
              <a:t>• POPCNT-based C 추론 demo — PyTorch 와 bit-exact, single-thread 25× speedup 실측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Cross-component ablation (E1 × E2 × E3), KD T/w sweep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SAM optimizer (BNN × SAM 효과 검증)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Bit-width Pareto (W8A8 / W4A4 LSQ) 비교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AT loss 안정화 (layer-wise LR, BN sync)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AVX-512 VPOPCNTDQ + BLAS-style GEMM → production-grade C 커널 확장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Slide 10 / 18  ·  ~40초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2C3E50"/>
                </a:solidFill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7F8C8D"/>
                </a:solidFill>
              </a:defRPr>
            </a:pPr>
            <a:r>
              <a:t>감사합니다.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Backup A — Phase A Teacher Hyperparameters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34095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Backbone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ResNet18 (torchvision, ImageNet pretrained)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Conv1 7×7 stride 1, maxpool → Identity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AdamW (wd = 1e-4)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Scheduler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LinearWarmup (8 ep, 0.1→1.0) + CosineAnnealingLR (72 ep, η_min = 1e-6)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LR / Batch / Epoch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1e-3 / 1024 / 80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ReLU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Augmentation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RandAugment (num_ops=2, mag=9), RandomErasing p=0.2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Regularization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Label smoothing 0.05, Mixup α=1.0 step decay → 0.0625, CutMix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Final top-1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82.44 %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Backup A  ·  Slide 12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Backup B — Phase B Student Hyperparameters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3200400"/>
                <a:gridCol w="4419295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분류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Phase 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Phase B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AdamW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wd = 1e-4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wd =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base /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1e-3 / 1e-6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5e-4 / 1e-6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Scheduler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Warmup + 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warmup 8 / cos 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warmup 15 / cos 205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Epoch /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80 / 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220 / 1024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KD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Logit (T, 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T=4, w=0.7 (epoch ≥ 15)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KD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Attention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disabled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shadow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decay = 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disabled (binary 특성)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Mixup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α 초기 / min / decay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1.0 / 0.0625 /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0.4 / 0 / step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label smoothing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grad clip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Backup B  ·  Slide 13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Backup C — Data Augmentation Strategy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3200400"/>
                <a:gridCol w="3962095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기법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RandomCrop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size 32, pad 4 (reflect)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위치 다양성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RandomHorizontalFlip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 =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좌우 대칭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RandAugment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num_ops = 2, mag =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색·기하 augment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RandomErasing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 = 0.2, scale (0.02, 1/3)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occlusion robustness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Mixup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α = 1.0 (teacher) / 0.4 (student), step decay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interpolation regularization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CutMix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α = 1.0, prob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spatial replacement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Norm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Normalize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ImageNet stats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pretrained 호환성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Backup C  ·  Slide 14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Backup D — C Kernel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xnor_gemm (core primitive)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Consolas"/>
              </a:defRPr>
            </a:pPr>
            <a:r>
              <a:t>y = α · (2 · POPCNT(¬(A ⊕ W)) − K_bits)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Packed uint64 (64 bits / word), _mm_popcnt_u64 scalar POPCNT (VPOPCNTDQ 미사용)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Cache blocking on N axis, OpenMP parallel on M axis (output channels)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함수 목록 (xnor_kernel.c, ~350 LOC)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65760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943600"/>
                <a:gridCol w="2133295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함수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OpenMP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xnor_gemm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Binary matmul, packed uint64 + POPCNT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✅ M-axis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fp32_conv2d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FP32 stem &amp; teacher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✅ C_out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binary_conv2d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1-bit conv + im2col + padding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✅ 출력위치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batch_norm_2d / rsign / rprelu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Inference BN / RSign / RPReLU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✅ 채널축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shortcut_downsample / linear_fp32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AvgPool + zero-pad /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Backup D  ·  Slide 15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Backup E — Threading: 25× → 12× 의 이유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Threads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Student (W1A1)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Teacher (FP32)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Ratio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1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547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25 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173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 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8 (HT 포함)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 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00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왜 thread 수에 따라 ratio 가 변하는가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Teacher (FP32): 큰 GEMM 루프 → multi-thread 로 ~3 × 가속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Student (binary): 작은 op 16 개 (binary conv) → thread spawn overhead 로 ~1.5 × 만 가속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→ 4-thread 시 teacher 가 더 큰 이득 → ratio 25 → 12 × 감소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두 숫자 모두 정직한 측정값. 발표에서는 single-thread (알고리즘) + multi-thread (실용) 모두 제시</a:t>
            </a:r>
          </a:p>
          <a:p>
            <a:pPr>
              <a:spcAft>
                <a:spcPts val="600"/>
              </a:spcAft>
              <a:defRPr sz="1400">
                <a:solidFill>
                  <a:srgbClr val="7F8C8D"/>
                </a:solidFill>
              </a:defRPr>
            </a:pPr>
            <a:r>
              <a:t>• Default = single-thread (Codex review 의 fair comparison 가이드 준수)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Backup E  ·  Slide 16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Backup F — Student Design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220 epoch 동일 schedule, baseline 에서 단일 컴포넌트만 제거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743200"/>
                <a:gridCol w="3047695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Best Val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Baseline (KD + double-skip + RPReLU)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68.74 %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E1: KD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66.44 %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−2.30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E2: Single-skip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66.28 %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−2.46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E3: No RPReLU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59.52 %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−9.22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ablatio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0"/>
            <a:ext cx="6858000" cy="36834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42062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0392B"/>
                </a:solidFill>
              </a:defRPr>
            </a:pPr>
            <a:r>
              <a:t>• RPReLU 가 단일 최대 기여 (−9.22 %p)</a:t>
            </a:r>
          </a:p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  – activation reshape &gt; weight precision (BNN 표현력 회복)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KD ≈ double-skip (~2.3 %p)</a:t>
            </a:r>
          </a:p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  – 둘 다 gradient flow 보조 역할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Baseline 만 후반 fine refinement (ep 215 vs 196–203)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Backup F  ·  Slide 17 /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C3E50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F8C8D"/>
                </a:solidFill>
              </a:defRPr>
            </a:pPr>
            <a:r>
              <a:t>Team 16 · KAU Deep Learning Term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